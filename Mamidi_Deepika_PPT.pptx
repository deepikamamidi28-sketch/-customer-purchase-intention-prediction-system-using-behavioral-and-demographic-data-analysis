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DM Sans SemiBold" pitchFamily="34" charset="0"/>
      <p:bold r:id="rId17"/>
    </p:embeddedFont>
    <p:embeddedFont>
      <p:font typeface="DM Sans SemiBold" pitchFamily="34" charset="-122"/>
      <p:bold r:id="rId18"/>
    </p:embeddedFont>
    <p:embeddedFont>
      <p:font typeface="DM Sans SemiBold" pitchFamily="34" charset="-120"/>
      <p:bold r:id="rId19"/>
    </p:embeddedFont>
    <p:embeddedFont>
      <p:font typeface="Inter Medium" panose="02000503000000020004" pitchFamily="34" charset="0"/>
      <p:regular r:id="rId20"/>
    </p:embeddedFont>
    <p:embeddedFont>
      <p:font typeface="Inter Medium" panose="02000503000000020004" pitchFamily="34" charset="-122"/>
      <p:regular r:id="rId21"/>
    </p:embeddedFont>
    <p:embeddedFont>
      <p:font typeface="Inter Medium" panose="02000503000000020004" pitchFamily="34" charset="-120"/>
      <p:regular r:id="rId22"/>
    </p:embeddedFont>
    <p:embeddedFont>
      <p:font typeface="Inter Bold" panose="02000503000000020004" pitchFamily="34" charset="0"/>
      <p:bold r:id="rId23"/>
    </p:embeddedFont>
    <p:embeddedFont>
      <p:font typeface="Inter Bold" panose="02000503000000020004" pitchFamily="34" charset="-122"/>
      <p:bold r:id="rId24"/>
    </p:embeddedFont>
    <p:embeddedFont>
      <p:font typeface="Inter Bold" panose="02000503000000020004" pitchFamily="34" charset="-120"/>
      <p:bold r:id="rId25"/>
    </p:embeddedFont>
    <p:embeddedFont>
      <p:font typeface="DM Sans Light" pitchFamily="34" charset="0"/>
      <p:regular r:id="rId26"/>
    </p:embeddedFont>
    <p:embeddedFont>
      <p:font typeface="DM Sans Light" pitchFamily="34" charset="-122"/>
      <p:regular r:id="rId27"/>
    </p:embeddedFont>
    <p:embeddedFont>
      <p:font typeface="DM Sans Light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16794"/>
            <a:ext cx="4722763" cy="13289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Purchase Intention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58355"/>
            <a:ext cx="4722763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A machine learning–powered platform that analyzes behavioral and demographic data to predict purchase likelihood in real time — enabling smarter targeting, higher conversions, and data-driven marketing decisions.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625081"/>
            <a:ext cx="1305669" cy="215354"/>
          </a:xfrm>
          <a:prstGeom prst="roundRect">
            <a:avLst>
              <a:gd name="adj" fmla="val 7900"/>
            </a:avLst>
          </a:prstGeom>
          <a:solidFill>
            <a:srgbClr val="D4F7EC"/>
          </a:solidFill>
        </p:spPr>
      </p:sp>
      <p:sp>
        <p:nvSpPr>
          <p:cNvPr id="6" name="Text 3"/>
          <p:cNvSpPr/>
          <p:nvPr/>
        </p:nvSpPr>
        <p:spPr>
          <a:xfrm>
            <a:off x="4010174" y="3667571"/>
            <a:ext cx="1592759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01630" y="3625081"/>
            <a:ext cx="156232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C97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86685" y="3667571"/>
            <a:ext cx="1849413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BEHAVIORAL ANALYTICS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25119" y="3911278"/>
            <a:ext cx="1799406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C97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10174" y="3953768"/>
            <a:ext cx="2086496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E-COMMERCE INTELLIGENCE</a:t>
            </a:r>
            <a:endParaRPr lang="en-US" sz="850" dirty="0"/>
          </a:p>
        </p:txBody>
      </p:sp>
      <p:sp>
        <p:nvSpPr>
          <p:cNvPr id="11" name="Student Details"/>
          <p:cNvSpPr txBox="1"/>
          <p:nvPr/>
        </p:nvSpPr>
        <p:spPr>
          <a:xfrm>
            <a:off x="3925119" y="4400000"/>
            <a:ext cx="4722763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30303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NAME: MAMIDI DEEPIKA</a:t>
            </a:r>
            <a:endParaRPr lang="en-US" sz="1100" b="1" dirty="0">
              <a:solidFill>
                <a:srgbClr val="030303"/>
              </a:solidFill>
              <a:latin typeface="Inter Medium" panose="02000503000000020004" pitchFamily="34" charset="0"/>
              <a:ea typeface="Inter Medium" panose="02000503000000020004" pitchFamily="34" charset="-122"/>
              <a:cs typeface="Inter Medium" panose="02000503000000020004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REGISTER NO: 323129510034</a:t>
            </a:r>
            <a:endParaRPr lang="en-US" sz="1000" b="1" dirty="0">
              <a:solidFill>
                <a:srgbClr val="464646"/>
              </a:solidFill>
              <a:latin typeface="Inter Medium" panose="02000503000000020004" pitchFamily="34" charset="0"/>
              <a:ea typeface="Inter Medium" panose="02000503000000020004" pitchFamily="34" charset="-122"/>
              <a:cs typeface="Inter Medium" panose="020005030000000200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7566"/>
            <a:ext cx="4722763" cy="844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Problem: Lost Conversions at Scale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445344"/>
            <a:ext cx="4722763" cy="8444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E-commerce businesses lose significant revenue to untargeted marketing and cart abandonment. Without predictive intelligence, teams rely on guesswork — wasting budget on low-intent customers while missing high-value opportunities.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2434679"/>
            <a:ext cx="2297013" cy="1191816"/>
          </a:xfrm>
          <a:prstGeom prst="roundRect">
            <a:avLst>
              <a:gd name="adj" fmla="val 1701"/>
            </a:avLst>
          </a:prstGeom>
          <a:solidFill>
            <a:srgbClr val="F2EEEE"/>
          </a:solidFill>
        </p:spPr>
      </p:sp>
      <p:sp>
        <p:nvSpPr>
          <p:cNvPr id="6" name="Text 3"/>
          <p:cNvSpPr/>
          <p:nvPr/>
        </p:nvSpPr>
        <p:spPr>
          <a:xfrm>
            <a:off x="4060180" y="2569741"/>
            <a:ext cx="2026890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💸</a:t>
            </a: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Wasted Ad Spend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0180" y="2858095"/>
            <a:ext cx="2026890" cy="633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Campaigns reach uninterested audiences, inflating cost-per-acquisition.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0868" y="2434679"/>
            <a:ext cx="2297013" cy="1191816"/>
          </a:xfrm>
          <a:prstGeom prst="roundRect">
            <a:avLst>
              <a:gd name="adj" fmla="val 1701"/>
            </a:avLst>
          </a:prstGeom>
          <a:solidFill>
            <a:srgbClr val="F2EEEE"/>
          </a:solidFill>
        </p:spPr>
      </p:sp>
      <p:sp>
        <p:nvSpPr>
          <p:cNvPr id="9" name="Text 6"/>
          <p:cNvSpPr/>
          <p:nvPr/>
        </p:nvSpPr>
        <p:spPr>
          <a:xfrm>
            <a:off x="6485930" y="2569741"/>
            <a:ext cx="2026890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High Abandonment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85930" y="2858095"/>
            <a:ext cx="2026890" cy="633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Over 70% of online shoppers abandon carts without completing purchases.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755231"/>
            <a:ext cx="4722763" cy="980703"/>
          </a:xfrm>
          <a:prstGeom prst="roundRect">
            <a:avLst>
              <a:gd name="adj" fmla="val 2067"/>
            </a:avLst>
          </a:prstGeom>
          <a:solidFill>
            <a:srgbClr val="F2EEEE"/>
          </a:solidFill>
        </p:spPr>
      </p:sp>
      <p:sp>
        <p:nvSpPr>
          <p:cNvPr id="12" name="Text 9"/>
          <p:cNvSpPr/>
          <p:nvPr/>
        </p:nvSpPr>
        <p:spPr>
          <a:xfrm>
            <a:off x="4060180" y="3890293"/>
            <a:ext cx="4452640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Low Conversion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60180" y="4178647"/>
            <a:ext cx="4452640" cy="422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Generic messaging fails to resonate with individual customer intent signals.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613"/>
            <a:ext cx="8151763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Objectives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06959"/>
            <a:ext cx="8608963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This system bridges raw customer data and actionable marketing intelligence through five core goals.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53716"/>
            <a:ext cx="8151763" cy="651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063" y="1377553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27584" y="1276499"/>
            <a:ext cx="7497514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Collect &amp; Analyze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27584" y="1495871"/>
            <a:ext cx="7497514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Aggregate behavioral and demographic data — age, income, browsing history, and purchase patterns.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87959"/>
            <a:ext cx="8151763" cy="6511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6063" y="2111797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27584" y="2010742"/>
            <a:ext cx="7497514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Preprocess &amp; Engineer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27584" y="2230115"/>
            <a:ext cx="7497514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Transform raw data into high-quality features for improved model accuracy.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622203"/>
            <a:ext cx="8151763" cy="6511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063" y="2846040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27584" y="2744986"/>
            <a:ext cx="7497514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Train &amp; Evaluate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027584" y="2964359"/>
            <a:ext cx="7497514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Build and benchmark multiple ML classification models for optimal performance.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3356446"/>
            <a:ext cx="8151763" cy="6511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6063" y="3580284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027584" y="3479229"/>
            <a:ext cx="7497514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 in Real Time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027584" y="3698602"/>
            <a:ext cx="7497514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Deliver instant purchase intention scores via API for live decision-making.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4090690"/>
            <a:ext cx="8151763" cy="65119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6063" y="4314527"/>
            <a:ext cx="162744" cy="203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027584" y="4213473"/>
            <a:ext cx="7497514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Segment &amp; Report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027584" y="4432846"/>
            <a:ext cx="7497514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Generate customer segments and interactive dashboards for marketing teams.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Architecture Overview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4405610" cy="44056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429" y="2549649"/>
            <a:ext cx="3573140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End-to-End Intelligence Pipeline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79429" y="2695798"/>
            <a:ext cx="3573140" cy="2551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The system ingests raw customer data from multiple sources, processes it through a robust ETL pipeline, applies trained ML models, and surfaces predictions through a secure API and interactive dashboards — all in near real time.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5079429" y="2990776"/>
            <a:ext cx="3573140" cy="269230"/>
          </a:xfrm>
          <a:prstGeom prst="roundRect">
            <a:avLst>
              <a:gd name="adj" fmla="val 3949"/>
            </a:avLst>
          </a:prstGeom>
          <a:solidFill>
            <a:srgbClr val="D4F7EC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272" y="3079328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9667" y="3040335"/>
            <a:ext cx="3272061" cy="1701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The modular architecture allows individual components to be upgraded or replaced without disrupting the full system.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5294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ML Workflow: From Data to Prediction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5344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067" y="957159"/>
            <a:ext cx="1426538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067" y="1240312"/>
            <a:ext cx="1426538" cy="433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Behavioral and demographic sources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4929" y="3708341"/>
            <a:ext cx="1434376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34929" y="3991492"/>
            <a:ext cx="1434376" cy="4339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Cleaning, normalization, encoding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30115" y="819502"/>
            <a:ext cx="1426538" cy="4408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30115" y="1323102"/>
            <a:ext cx="1426538" cy="4339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RFM, session metrics, intent signals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0977" y="3780598"/>
            <a:ext cx="1426539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0977" y="4063750"/>
            <a:ext cx="1426539" cy="2892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Logistic, RF, XGBoost ensembles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578995"/>
            <a:ext cx="8608963" cy="1191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Each stage is optimized for accuracy and latency. Feature engineering transforms raw signals into predictive variables, while ensemble models balance interpretability with performance.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970"/>
            <a:ext cx="8151763" cy="401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Sources &amp; Feature Engineering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15392"/>
            <a:ext cx="3919165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Input Data Dimensions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264" y="1451000"/>
            <a:ext cx="192658" cy="192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581" y="1447056"/>
            <a:ext cx="3501703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Demographic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3581" y="1764134"/>
            <a:ext cx="3501703" cy="195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Age, income, location, gender, occupation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264" y="2196852"/>
            <a:ext cx="192658" cy="1926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3581" y="2192908"/>
            <a:ext cx="3501703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Behavioral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13581" y="2509986"/>
            <a:ext cx="3501703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Page views, session duration, click patterns, time on product pages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264" y="3138636"/>
            <a:ext cx="192658" cy="1926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3581" y="3134692"/>
            <a:ext cx="3501703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Transactional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913581" y="3451771"/>
            <a:ext cx="3501703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Purchase history, average order value, frequency, recency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264" y="4080421"/>
            <a:ext cx="192658" cy="1926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3581" y="4076477"/>
            <a:ext cx="3501703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Contextual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913581" y="4393555"/>
            <a:ext cx="3501703" cy="195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Device type, referral source, campaign attribution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733479" y="1115392"/>
            <a:ext cx="3919165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Engineered Features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33479" y="1447056"/>
            <a:ext cx="1901354" cy="994395"/>
          </a:xfrm>
          <a:prstGeom prst="roundRect">
            <a:avLst>
              <a:gd name="adj" fmla="val 193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876205" y="1589782"/>
            <a:ext cx="1615901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RFM Score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876205" y="1906860"/>
            <a:ext cx="1615901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Recency, Frequency, Monetary composite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751216" y="1447056"/>
            <a:ext cx="1901428" cy="994395"/>
          </a:xfrm>
          <a:prstGeom prst="roundRect">
            <a:avLst>
              <a:gd name="adj" fmla="val 193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893942" y="1589782"/>
            <a:ext cx="1615976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Engagement Index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893942" y="1906860"/>
            <a:ext cx="1615976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Normalized browsing intensity metric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33479" y="2557835"/>
            <a:ext cx="3919165" cy="798463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76205" y="2700561"/>
            <a:ext cx="3633713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Intent Signal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876205" y="3017639"/>
            <a:ext cx="3633713" cy="195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Cart additions, wishlist activity, repeat visits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231"/>
            <a:ext cx="815176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Training &amp; Evaluation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71563"/>
            <a:ext cx="4347270" cy="2983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0718" y="1058019"/>
            <a:ext cx="3501851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XGBoost Leads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150718" y="1360363"/>
            <a:ext cx="3501851" cy="7441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XGBoost achieves the highest accuracy (94%) and AUC-ROC (97%) by combining gradient boosting with regularization, handling class imbalance, and capturing non-linear patterns in customer behavior.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4284911"/>
            <a:ext cx="4022303" cy="4735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667" y="4299198"/>
            <a:ext cx="385546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8667" y="4558159"/>
            <a:ext cx="3855467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Validates true positive and negative rates on held-out test data.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5504" y="4284911"/>
            <a:ext cx="4022378" cy="4735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92340" y="4299198"/>
            <a:ext cx="3855541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792340" y="4558159"/>
            <a:ext cx="3855541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5-fold CV ensures robust, generalizable performance estimates.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3433"/>
            <a:ext cx="4722763" cy="346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Analytical Dashboards &amp; Insights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919311"/>
            <a:ext cx="4722763" cy="3155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The platform provides interactive dashboards that translate model outputs into actionable business intelligence for marketing and sales teams.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32161"/>
            <a:ext cx="221456" cy="221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661740"/>
            <a:ext cx="4722763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Conversion Funnel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96119" y="1886620"/>
            <a:ext cx="4722763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Visualize drop-off points and identify high-intent segments for retargeting.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217390"/>
            <a:ext cx="221456" cy="221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2546970"/>
            <a:ext cx="4722763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Segments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96119" y="2771849"/>
            <a:ext cx="4722763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Auto-generated clusters by purchase propensity, value, and behavior profile.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102620"/>
            <a:ext cx="221456" cy="221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119" y="3432200"/>
            <a:ext cx="4722763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Live Intent Scores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96119" y="3657079"/>
            <a:ext cx="4722763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Real-time purchase probability scores updated with every user interaction.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87850"/>
            <a:ext cx="221456" cy="221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4317429"/>
            <a:ext cx="4722763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Prediction Reports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496119" y="4542309"/>
            <a:ext cx="4722763" cy="157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Exportable reports with model confidence, feature attribution, and recommendations.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347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Real-World Applications &amp; Advantages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10816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Where It Applies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791742"/>
            <a:ext cx="1880592" cy="1331937"/>
          </a:xfrm>
          <a:prstGeom prst="roundRect">
            <a:avLst>
              <a:gd name="adj" fmla="val 1597"/>
            </a:avLst>
          </a:prstGeom>
          <a:solidFill>
            <a:srgbClr val="F2EEEE"/>
          </a:solidFill>
        </p:spPr>
      </p:sp>
      <p:sp>
        <p:nvSpPr>
          <p:cNvPr id="5" name="Text 3"/>
          <p:cNvSpPr/>
          <p:nvPr/>
        </p:nvSpPr>
        <p:spPr>
          <a:xfrm>
            <a:off x="637877" y="1933501"/>
            <a:ext cx="1597075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🛍️</a:t>
            </a: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E-Commerce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301478"/>
            <a:ext cx="15970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Personalized product recommendations and cart recovery emails.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791742"/>
            <a:ext cx="1880592" cy="1331937"/>
          </a:xfrm>
          <a:prstGeom prst="roundRect">
            <a:avLst>
              <a:gd name="adj" fmla="val 1597"/>
            </a:avLst>
          </a:prstGeom>
          <a:solidFill>
            <a:srgbClr val="F2EEEE"/>
          </a:solidFill>
        </p:spPr>
      </p:sp>
      <p:sp>
        <p:nvSpPr>
          <p:cNvPr id="8" name="Text 6"/>
          <p:cNvSpPr/>
          <p:nvPr/>
        </p:nvSpPr>
        <p:spPr>
          <a:xfrm>
            <a:off x="2660228" y="1933501"/>
            <a:ext cx="1597075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🏪</a:t>
            </a: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Retail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0228" y="2301478"/>
            <a:ext cx="15970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In-store and omnichannel campaign targeting.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265438"/>
            <a:ext cx="3902943" cy="1105123"/>
          </a:xfrm>
          <a:prstGeom prst="roundRect">
            <a:avLst>
              <a:gd name="adj" fmla="val 1924"/>
            </a:avLst>
          </a:prstGeom>
          <a:solidFill>
            <a:srgbClr val="F2EEEE"/>
          </a:solidFill>
        </p:spPr>
      </p:sp>
      <p:sp>
        <p:nvSpPr>
          <p:cNvPr id="11" name="Text 9"/>
          <p:cNvSpPr/>
          <p:nvPr/>
        </p:nvSpPr>
        <p:spPr>
          <a:xfrm>
            <a:off x="637877" y="3407197"/>
            <a:ext cx="3619426" cy="226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📣</a:t>
            </a: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Digital Marketing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7877" y="3775174"/>
            <a:ext cx="361942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Ad spend optimization based on predicted intent scores.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9701" y="1410816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Competitive Advantages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49701" y="1774031"/>
            <a:ext cx="3902943" cy="196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Higher Conversion Rates</a:t>
            </a: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 — Target high-intent customers precisely.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Reduced CAC</a:t>
            </a: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 — Eliminate wasteful ad spend on low-propensity audiences.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Scalable Architecture</a:t>
            </a: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 — Handles millions of events with cloud-native deployment.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Secure by Design</a:t>
            </a:r>
            <a:r>
              <a:rPr lang="en-US" sz="11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 — Role-based access, encryption, and GDPR-compliant data handling.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Limitations, Future Roadmap &amp;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13594"/>
            <a:ext cx="376951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Current Limitations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91307"/>
            <a:ext cx="3769519" cy="683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0517" y="1418555"/>
            <a:ext cx="3457873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Cold Start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0517" y="1685032"/>
            <a:ext cx="3457873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New users with no history reduce prediction confidence.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64618"/>
            <a:ext cx="3769519" cy="6833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0517" y="2191866"/>
            <a:ext cx="3457873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80517" y="2458343"/>
            <a:ext cx="3457873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Model accuracy depends on clean, consistent input data.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837929"/>
            <a:ext cx="3769519" cy="8457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0517" y="2965177"/>
            <a:ext cx="3457873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Concept Drift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80517" y="3231654"/>
            <a:ext cx="3457873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Customer behavior shifts over time, requiring periodic retraining.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546029" y="1013594"/>
            <a:ext cx="4106614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546029" y="1291307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546029" y="1468934"/>
            <a:ext cx="4106614" cy="14288"/>
          </a:xfrm>
          <a:prstGeom prst="rect">
            <a:avLst/>
          </a:prstGeom>
          <a:solidFill>
            <a:srgbClr val="1C9770"/>
          </a:solidFill>
        </p:spPr>
      </p:sp>
      <p:sp>
        <p:nvSpPr>
          <p:cNvPr id="16" name="Text 11"/>
          <p:cNvSpPr/>
          <p:nvPr/>
        </p:nvSpPr>
        <p:spPr>
          <a:xfrm>
            <a:off x="4546029" y="1553989"/>
            <a:ext cx="4106614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Deep Learning Models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46029" y="1820466"/>
            <a:ext cx="4106614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LSTM and transformer architectures for sequential behavior modeling.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546029" y="2157487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546029" y="2335113"/>
            <a:ext cx="4106614" cy="14288"/>
          </a:xfrm>
          <a:prstGeom prst="rect">
            <a:avLst/>
          </a:prstGeom>
          <a:solidFill>
            <a:srgbClr val="1C9770"/>
          </a:solidFill>
        </p:spPr>
      </p:sp>
      <p:sp>
        <p:nvSpPr>
          <p:cNvPr id="20" name="Text 15"/>
          <p:cNvSpPr/>
          <p:nvPr/>
        </p:nvSpPr>
        <p:spPr>
          <a:xfrm>
            <a:off x="4546029" y="2420169"/>
            <a:ext cx="4106614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Streaming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46029" y="2686645"/>
            <a:ext cx="4106614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Apache Kafka integration for sub-second intent scoring.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546029" y="3023667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546029" y="3201293"/>
            <a:ext cx="4106614" cy="14288"/>
          </a:xfrm>
          <a:prstGeom prst="rect">
            <a:avLst/>
          </a:prstGeom>
          <a:solidFill>
            <a:srgbClr val="1C9770"/>
          </a:solidFill>
        </p:spPr>
      </p:sp>
      <p:sp>
        <p:nvSpPr>
          <p:cNvPr id="24" name="Text 19"/>
          <p:cNvSpPr/>
          <p:nvPr/>
        </p:nvSpPr>
        <p:spPr>
          <a:xfrm>
            <a:off x="4546029" y="3286348"/>
            <a:ext cx="4106614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46029" y="3552825"/>
            <a:ext cx="4106614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SHAP and LIME dashboards for transparent, auditable predictions.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546029" y="3901083"/>
            <a:ext cx="4106614" cy="705445"/>
          </a:xfrm>
          <a:prstGeom prst="roundRect">
            <a:avLst>
              <a:gd name="adj" fmla="val 2402"/>
            </a:avLst>
          </a:prstGeom>
          <a:solidFill>
            <a:srgbClr val="B6FCB8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990" y="4062413"/>
            <a:ext cx="141163" cy="11296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13114" y="4010248"/>
            <a:ext cx="3626569" cy="4871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This system transforms raw customer data into a competitive advantage — driving smarter decisions, higher conversions, and measurable ROI for modern businesses.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5046</Words>
  <Application>WPS Presentation</Application>
  <PresentationFormat>On-screen Show (16:9)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4" baseType="lpstr">
      <vt:lpstr>Arial</vt:lpstr>
      <vt:lpstr>SimSun</vt:lpstr>
      <vt:lpstr>Wingdings</vt:lpstr>
      <vt:lpstr>DM Sans SemiBold</vt:lpstr>
      <vt:lpstr>DM Sans SemiBold</vt:lpstr>
      <vt:lpstr>DM Sans SemiBold</vt:lpstr>
      <vt:lpstr>Inter Medium</vt:lpstr>
      <vt:lpstr>Inter Medium</vt:lpstr>
      <vt:lpstr>Inter Medium</vt:lpstr>
      <vt:lpstr>Twemoji Mozilla</vt:lpstr>
      <vt:lpstr>AMGDT</vt:lpstr>
      <vt:lpstr>Twemoji Mozilla</vt:lpstr>
      <vt:lpstr>Twemoji Mozilla</vt:lpstr>
      <vt:lpstr>Inter Bold</vt:lpstr>
      <vt:lpstr>Inter Bold</vt:lpstr>
      <vt:lpstr>Inter Bold</vt:lpstr>
      <vt:lpstr>DM Sans Light</vt:lpstr>
      <vt:lpstr>DM Sans Light</vt:lpstr>
      <vt:lpstr>DM Sans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Nischal Ravalavalasa</cp:lastModifiedBy>
  <cp:revision>2</cp:revision>
  <dcterms:created xsi:type="dcterms:W3CDTF">2026-07-28T05:34:00Z</dcterms:created>
  <dcterms:modified xsi:type="dcterms:W3CDTF">2026-09-29T06:42:59Z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ECCA8D2AA4AE471B8CC31302CDE0D85E_12</vt:lpwstr>
  </property>
  <property fmtid="{D5CDD505-2E9C-101B-9397-08002B2CF9AE}" pid="3" name="KSOProductBuildVer">
    <vt:lpwstr>1033-12.1.0.28485</vt:lpwstr>
  </property>
</Properties>
</file>